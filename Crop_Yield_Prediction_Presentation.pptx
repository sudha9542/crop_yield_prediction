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"/>
            <a:ext cx="91440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731520"/>
            <a:ext cx="2743200" cy="2743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2011680" cy="20116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144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Predicting Crop Yield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Using Machine Learning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Data-Driven Approach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Lakshmi Sudha Pandiri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University of Hertfordshire | MSc Data Science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github.com/lakshmi-sudha-pandiri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Introduction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Research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Agriculture accounts for a significant share of GDP in developing nations, yet crop yield remains highly unpredictable due to variable rainfall, temperature, soil conditions, and farming practices.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Machine learning offers a data-driven alternative to traditional agronomic models by learning complex, non-linear relationships between environmental factors and yield outcomes.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 machine learning models accurately predict crop yield (tons/hectare) using environmental and agricultural features such as rainfall, temperature, soil type, and farming inputs?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Objectives: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Compare regression models (Linear, Decision Tree, Random Forest, Ridge)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Evaluate using R², RMSE, MAE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Identify key yield drivers via SHAP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Provide actionable agricultural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Previous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Pedregosa et al. (2011) established scikit-learn as the standard ML toolkit for regression and classification tasks, providing robust implementations of Linear Regression, Decision Trees, and Random Forests used extensively in agricultural prediction studies.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Lundberg and Lee (2017) introduced SHAP (SHapley Additive exPlanations) for model interpretability, enabling transparent explanation of how individual features influence predictions — critical for agricultural decision-making.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McKinney (2010) developed pandas for structured data manipulation, while Harris et al. (2020) contributed NumPy for efficient numerical computing — both foundational for preprocessing large agricultural datasets.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Waskom (2021) and Hunter (2007) provided seaborn and matplotlib respectively, enabling comprehensive exploratory data analysis and visual communication of agricultural trends and model results.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Methodology / Approach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Baseline parametric model assuming linear relationship between features and yield. Simple, interpretable, fast training.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Non-parametric model that partitions feature space recursively. Captures non-linear patterns. max_depth=10 to prevent overfitting.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393192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Ensemble of 50 decision trees with bootstrap aggregation. Reduces variance, improves generalization. max_depth=10.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Ridge Regression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337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Regularized linear regression with L2 penalty. Controls multicollinearity and prevents coefficient inflation. Alpha tuned via GridSearchCV.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Kaggle — Agriculture Crop Yield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(samuelotiattakorah/agriculture-crop-yield)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Type: Tabular regression dataset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 Samples: 1,000,000 rows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 Cleaning: 999,769 rows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Columns: 11 features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Target: Yield_tons_per_hectare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Features: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Rainfall_mm, Temperature_Celsius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Soil_Type, Crop, Region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Fertilizer_Used, Irrigation_Used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Days_to_Harvest, Weather_Condition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Crop Yield by Type</a:t>
            </a:r>
            <a:endParaRPr lang="en-US" sz="1300" dirty="0"/>
          </a:p>
        </p:txBody>
      </p:sp>
      <p:pic>
        <p:nvPicPr>
          <p:cNvPr id="12" name="Image 0" descr="/Users/zahoorkhan/Desktop/Jan-2025 DS UOH/ Semester-3 all Projects/Project By Faizan/36. Lakshmi Sudha Pandiri/3. Presentation Part/Plots/plot_01_Distribution_of_Crop_Yield_by_Crop_Type_In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961017"/>
            <a:ext cx="3657600" cy="21130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Ethical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Data Privacy &amp; Bias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dataset is synthetic/aggregated from Kaggle with no personal farmer data, minimizing privacy risks. However, regional bias (India only) limits global applicability. Label encoding of categorical features may introduce ordinal assumptions.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80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Fairness &amp; Accessibility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Predictions should not disadvantage smallholder farmers. Model outputs must be interpreted alongside local agricultural knowledge. Open-source tools (scikit-learn, SHAP) ensure reproducibility and equitable access.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280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Environmental 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Responsible use of ML-driven yield predictions can optimize fertilizer and water usage, reducing environmental footprint. However, over-reliance on predictions without ground truth validation could lead to harmful farming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45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Rainfall Distribution</a:t>
            </a:r>
            <a:endParaRPr lang="en-US" sz="1000" dirty="0"/>
          </a:p>
        </p:txBody>
      </p:sp>
      <p:pic>
        <p:nvPicPr>
          <p:cNvPr id="8" name="Image 0" descr="/Users/zahoorkhan/Desktop/Jan-2025 DS UOH/ Semester-3 all Projects/Project By Faizan/36. Lakshmi Sudha Pandiri/3. Presentation Part/Plots/plot_02_Distribution_of_Annual_Rainfall_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2651760" cy="1828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46120" y="1051560"/>
            <a:ext cx="2834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51560"/>
            <a:ext cx="283464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1143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Temperature Distribution</a:t>
            </a:r>
            <a:endParaRPr lang="en-US" sz="1000" dirty="0"/>
          </a:p>
        </p:txBody>
      </p:sp>
      <p:pic>
        <p:nvPicPr>
          <p:cNvPr id="12" name="Image 1" descr="/Users/zahoorkhan/Desktop/Jan-2025 DS UOH/ Semester-3 all Projects/Project By Faizan/36. Lakshmi Sudha Pandiri/3. Presentation Part/Plots/plot_03_Distribution_of_Average_Temperature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17320"/>
            <a:ext cx="2651760" cy="1828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17920" y="1051560"/>
            <a:ext cx="2834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51560"/>
            <a:ext cx="283464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1"/>
          <p:cNvSpPr/>
          <p:nvPr/>
        </p:nvSpPr>
        <p:spPr>
          <a:xfrm>
            <a:off x="6309360" y="1143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Harvest Duration</a:t>
            </a:r>
            <a:endParaRPr lang="en-US" sz="1000" dirty="0"/>
          </a:p>
        </p:txBody>
      </p:sp>
      <p:pic>
        <p:nvPicPr>
          <p:cNvPr id="16" name="Image 2" descr="/Users/zahoorkhan/Desktop/Jan-2025 DS UOH/ Semester-3 all Projects/Project By Faizan/36. Lakshmi Sudha Pandiri/3. Presentation Part/Plots/plot_04_Distribution_of_Crop_Duration_Days_to_Harv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2651760" cy="1828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286000" y="347472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286000" y="3474720"/>
            <a:ext cx="4572000" cy="45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4"/>
          <p:cNvSpPr/>
          <p:nvPr/>
        </p:nvSpPr>
        <p:spPr>
          <a:xfrm>
            <a:off x="2377440" y="35478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Crop Yield Distribution</a:t>
            </a:r>
            <a:endParaRPr lang="en-US" sz="1000" dirty="0"/>
          </a:p>
        </p:txBody>
      </p:sp>
      <p:pic>
        <p:nvPicPr>
          <p:cNvPr id="20" name="Image 3" descr="/Users/zahoorkhan/Desktop/Jan-2025 DS UOH/ Semester-3 all Projects/Project By Faizan/36. Lakshmi Sudha Pandiri/3. Presentation Part/Plots/plot_05_Overall_Productivity_Distribution_of_Crop_Y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579" y="3794760"/>
            <a:ext cx="1848841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Data Pre-processing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Processing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Data Cleaning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Removed 231 rows with negative yield values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No missing values or duplicates found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Feature Encoding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Boolean columns → integer (0/1)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Categorical → Label Encoding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Dropped 'Country' (constant value)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Feature Scaling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StandardScaler (zero mean, unit variance)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Applied to all features except target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Train-Test Split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80/20 split (random_state=42)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• Train: 799,815 | Test: 199,954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Dataset Statistics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830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1005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Feature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Mean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Std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Range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Rainfall (mm)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549.98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259.85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100-1000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Temp (°C)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27.50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7.22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15-40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Harvest Days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104.50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25.95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60-149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Yield (t/ha)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4.65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1.70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-1.15 to 9.96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Encoding Summary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3611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Region: 3 categories → 0,1,2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Soil_Type: 4 categories → 0,1,2,3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Crop: 5 categories → 0,1,2,3,4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Weather: 3 categories → 0,1,2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Boolean features: True/False → 1/0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Models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Regression Model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DF2E9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783080"/>
            <a:ext cx="73152" cy="13258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 = β₀ + β₁x₁ + ... + βₙxₙ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Baseline model with closed-form OLS solution. Assumes linearity between features and yield.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DF2E9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783080"/>
            <a:ext cx="73152" cy="1325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Decision Tree (depth=10)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Recursive binary splitting on feature thresholds. min_samples_leaf=10 for regularization. Captures non-linear patterns.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DF2E9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91840"/>
            <a:ext cx="73152" cy="13258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649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Random Forest (n=50)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Ensemble of 50 trees with bagging. max_depth=10, min_samples_split=5. Reduces variance via averaging.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DF2E9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91840"/>
            <a:ext cx="73152" cy="13258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649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Linear model + L2 penalty (α). Minimizes: ||y - Xβ||² + α||β||². Controls overfitting when features are correlated.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Performance Comparison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822960"/>
                <a:gridCol w="731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Model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R²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RMSE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MAE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Linear Reg.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0.9132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0.4993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0.3983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Decision Tree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0.9122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0.5022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0.4008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Random Forest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0.9129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0.5002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0.3991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Ridge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0.9132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0.4993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-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0972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Model Accuracy (R² Score)</a:t>
            </a:r>
            <a:endParaRPr lang="en-US" sz="1300" dirty="0"/>
          </a:p>
        </p:txBody>
      </p:sp>
      <p:pic>
        <p:nvPicPr>
          <p:cNvPr id="12" name="Image 0" descr="/Users/zahoorkhan/Desktop/Jan-2025 DS UOH/ Semester-3 all Projects/Project By Faizan/36. Lakshmi Sudha Pandiri/3. Presentation Part/Plots/plot_06_Model_Accuracy_R2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00200"/>
            <a:ext cx="3657600" cy="1508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828800" y="333756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828800" y="3337560"/>
            <a:ext cx="54864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1"/>
          <p:cNvSpPr/>
          <p:nvPr/>
        </p:nvSpPr>
        <p:spPr>
          <a:xfrm>
            <a:off x="201168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Random Forest: Actual vs Predicted (50 Samples)</a:t>
            </a:r>
            <a:endParaRPr lang="en-US" sz="1100" dirty="0"/>
          </a:p>
        </p:txBody>
      </p:sp>
      <p:pic>
        <p:nvPicPr>
          <p:cNvPr id="16" name="Image 1" descr="/Users/zahoorkhan/Desktop/Jan-2025 DS UOH/ Semester-3 all Projects/Project By Faizan/36. Lakshmi Sudha Pandiri/3. Presentation Part/Plots/plot_07_Random_Forest_Actual_vs_Predicted_Yield_First_50_Samp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33" y="3703320"/>
            <a:ext cx="2211334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Hyperparameter Tuning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Tuning Strategy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GridSearchCV (Ridge &amp; Decision Tree)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Sample: 100,000 rows (10% of data)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CV Folds: 3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Ridge Parameters: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alpha: [0.1, 1.0, 10.0]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Best: R² = 0.9132, RMSE = 0.4993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Decision Tree Parameters: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max_depth: [10, 20]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min_samples_leaf: [5, 10]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Best: depth=10, leaf=10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R² = 0.9122, RMSE = 0.5022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RandomizedSearchCV (Random Forest)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n_estimators: [50]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max_depth: [10, 20]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min_samples_split: [5]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Best: n=50, depth=10, split=5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R² = 0.9129, RMSE = 0.5002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5-Fold Cross-Validation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83080"/>
          <a:ext cx="3566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Model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Avg R²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Avg RMSE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Linear Reg.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0.9130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0.5001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Decision Tree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0.9119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0.5032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Random Forest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0.9126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0.5011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3200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All models achieve ~91.3% variance explained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Very stable across all 5 folds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Ridge and Linear Regression perform nearly identically (both R² = 0.913)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Minimal overfitting observed — train/test gap is negligible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Hyperparameter tuning provided marginal 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Analysis &amp; Feature Importance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Feature Importance (RF)</a:t>
            </a:r>
            <a:endParaRPr lang="en-US" sz="1300" dirty="0"/>
          </a:p>
        </p:txBody>
      </p:sp>
      <p:pic>
        <p:nvPicPr>
          <p:cNvPr id="8" name="Image 0" descr="/Users/zahoorkhan/Desktop/Jan-2025 DS UOH/ Semester-3 all Projects/Project By Faizan/36. Lakshmi Sudha Pandiri/3. Presentation Part/Plots/plot_08_Which_Factors_Drive_Yield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2757"/>
            <a:ext cx="3749040" cy="22295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Agricultural Inputs Impact</a:t>
            </a:r>
            <a:endParaRPr lang="en-US" sz="1300" dirty="0"/>
          </a:p>
        </p:txBody>
      </p:sp>
      <p:pic>
        <p:nvPicPr>
          <p:cNvPr id="12" name="Image 1" descr="/Users/zahoorkhan/Desktop/Jan-2025 DS UOH/ Semester-3 all Projects/Project By Faizan/36. Lakshmi Sudha Pandiri/3. Presentation Part/Plots/plot_09_Relative_Importance_of_Agricultural_Inp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57" y="1600200"/>
            <a:ext cx="2819765" cy="1051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5488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2880360"/>
            <a:ext cx="393192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Result Satisfaction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0" y="3383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All models achieve R² &gt; 0.91, explaining over 91% of yield variance. Days_to_Harvest, Rainfall, and Temperature are the top 3 predictors.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Improvements planned: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Larger hyperparameter search space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Gradient Boosting (XGBoost, LightGBM)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Deep learning for non-linear interactions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Real-world multi-country datasets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Summary &amp;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All 4 models achieved R² &gt; 0.91 on 999,769 agricultural samples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Ridge Regression achieved the best R² = 0.9132 with RMSE = 0.4993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Days_to_Harvest is the single most important predictor of crop yield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Rainfall and Temperature are the next most significant environmental factors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SHAP analysis revealed directional feature impacts for transparent decision-making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5-fold cross-validation confirmed stable generalization across all models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Expand to multi-country datasets for broader applicability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Integrate temporal features (seasonal trends, climate change patterns)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Test ensemble methods: XGBoost, LightGBM, Stacking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Explore deep learning architectures for complex non-linear relationships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Develop a user-friendly web application for real-time yield prediction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Collaborate with agricultural domain experts for feature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Takorah, S.O. (2024)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'Agriculture Crop Yield'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Available at: https://www.kaggle.com/datasets/samuelotiattakorah/agriculture-crop-yield (Accessed: 26 January 2026).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Pedregosa, F., Varoquaux, G., Gramfort, A., Michel, V., Thirion, B., Grisel, O., Blondel, M., Prettenhofer, P., Weiss, R., Dubourg, V. and Vanderplas, J. (2011)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'Scikit-learn: Machine Learning in Python'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Journal of Machine Learning Research, 12, pp. 2825-2830.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Lundberg, S.M. and Lee, S.I. (2017)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'A Unified Approach to Interpreting Model Predictions'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in Advances in Neural Information Processing Systems, pp. 4765-4774.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McKinney, W. (2010)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'Data Structures for Statistical Computing in Python'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in Proceedings of the 9th Python in Science Conference, pp. 56-61.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Harris, C.R., Millman, K.J., van der Walt, S.J. et al. (2020)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'Array programming with NumPy'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Nature, 585(7825), pp. 357-362.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Waskom, M.L. (2021)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'seaborn: statistical data visualization'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Journal of Open Source Software, 6(60), p. 3021.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Hunter, J.D. (2007)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'Matplotlib: A 2D graphics environment'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465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Computing in Science &amp; Engineering, 9(3), pp. 90-95.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/>
  <dc:creator>Lakshmi Pc</dc:creator>
  <cp:lastModifiedBy>Lakshmi Pc</cp:lastModifiedBy>
  <cp:revision>1</cp:revision>
  <dcterms:created xsi:type="dcterms:W3CDTF">2026-03-12T19:22:06Z</dcterms:created>
  <dcterms:modified xsi:type="dcterms:W3CDTF">2026-03-12T19:22:06Z</dcterms:modified>
</cp:coreProperties>
</file>